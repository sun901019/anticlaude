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737360" cy="320040"/>
          </a:xfrm>
          <a:prstGeom prst="roundRect">
            <a:avLst/>
          </a:prstGeom>
          <a:solidFill>
            <a:srgbClr val="FFEDDC"/>
          </a:solidFill>
          <a:ln>
            <a:solidFill>
              <a:srgbClr val="FFE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85C1D"/>
                </a:solidFill>
                <a:latin typeface="Microsoft JhengHei"/>
              </a:rPr>
              <a:t>面試作品集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789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1616"/>
                </a:solidFill>
                <a:latin typeface="Microsoft JhengHei UI"/>
              </a:rPr>
              <a:t>AntiClaude / AITOS / Flow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874519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D584F"/>
                </a:solidFill>
                <a:latin typeface="Microsoft JhengHei"/>
              </a:rPr>
              <a:t>AI 作業系統 + 電商決策工作台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31720"/>
            <a:ext cx="93268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D584F"/>
                </a:solidFill>
                <a:latin typeface="Microsoft JhengHei"/>
              </a:defRPr>
            </a:pPr>
            <a:r>
              <a:t>我把 AI 協作、workflow、approval、內容營運與 Flow Lab 電商決策整合成一套真正可操作的全端系統。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846320"/>
            <a:ext cx="2011680" cy="109728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161616"/>
                </a:solidFill>
                <a:latin typeface="Aptos Display"/>
              </a:rPr>
              <a:t>351</a:t>
            </a:r>
          </a:p>
          <a:p>
            <a:pPr algn="ctr">
              <a:defRPr sz="1200">
                <a:solidFill>
                  <a:srgbClr val="5D584F"/>
                </a:solidFill>
                <a:latin typeface="Microsoft JhengHei"/>
              </a:defRPr>
            </a:pPr>
            <a:r>
              <a:t>後端測試通過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4846320"/>
            <a:ext cx="2011680" cy="109728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161616"/>
                </a:solidFill>
                <a:latin typeface="Aptos Display"/>
              </a:rPr>
              <a:t>16</a:t>
            </a:r>
          </a:p>
          <a:p>
            <a:pPr algn="ctr">
              <a:defRPr sz="1200">
                <a:solidFill>
                  <a:srgbClr val="5D584F"/>
                </a:solidFill>
                <a:latin typeface="Microsoft JhengHei"/>
              </a:defRPr>
            </a:pPr>
            <a:r>
              <a:t>Dashboard 路由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4846320"/>
            <a:ext cx="2011680" cy="109728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161616"/>
                </a:solidFill>
                <a:latin typeface="Aptos Display"/>
              </a:rPr>
              <a:t>101</a:t>
            </a:r>
          </a:p>
          <a:p>
            <a:pPr algn="ctr">
              <a:defRPr sz="1200">
                <a:solidFill>
                  <a:srgbClr val="5D584F"/>
                </a:solidFill>
                <a:latin typeface="Microsoft JhengHei"/>
              </a:defRPr>
            </a:pPr>
            <a:r>
              <a:t>API handlers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4846320"/>
            <a:ext cx="2011680" cy="109728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161616"/>
                </a:solidFill>
                <a:latin typeface="Aptos Display"/>
              </a:rPr>
              <a:t>1262</a:t>
            </a:r>
          </a:p>
          <a:p>
            <a:pPr algn="ctr">
              <a:defRPr sz="1200">
                <a:solidFill>
                  <a:srgbClr val="5D584F"/>
                </a:solidFill>
                <a:latin typeface="Microsoft JhengHei"/>
              </a:defRPr>
            </a:pPr>
            <a:r>
              <a:t>workflow runs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737360" cy="320040"/>
          </a:xfrm>
          <a:prstGeom prst="roundRect">
            <a:avLst/>
          </a:prstGeom>
          <a:solidFill>
            <a:srgbClr val="FFEDDC"/>
          </a:solidFill>
          <a:ln>
            <a:solidFill>
              <a:srgbClr val="FFE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85C1D"/>
                </a:solidFill>
                <a:latin typeface="Microsoft JhengHei"/>
              </a:rPr>
              <a:t>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789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1616"/>
                </a:solidFill>
                <a:latin typeface="Microsoft JhengHei UI"/>
              </a:rPr>
              <a:t>我想解決什麼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4008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61616"/>
                </a:solidFill>
                <a:latin typeface="Microsoft JhengHei"/>
              </a:defRPr>
            </a:pPr>
            <a:r>
              <a:t>AI 可以生成很多東西，但沒有治理與審核機制。</a:t>
            </a:r>
          </a:p>
          <a:p>
            <a:pPr>
              <a:spcAft>
                <a:spcPts val="1000"/>
              </a:spcAft>
              <a:defRPr sz="2000">
                <a:solidFill>
                  <a:srgbClr val="161616"/>
                </a:solidFill>
                <a:latin typeface="Microsoft JhengHei"/>
              </a:defRPr>
            </a:pPr>
            <a:r>
              <a:t>電商定價、採購、選品常依賴手算或試算表。</a:t>
            </a:r>
          </a:p>
          <a:p>
            <a:pPr>
              <a:spcAft>
                <a:spcPts val="1000"/>
              </a:spcAft>
              <a:defRPr sz="2000">
                <a:solidFill>
                  <a:srgbClr val="161616"/>
                </a:solidFill>
                <a:latin typeface="Microsoft JhengHei"/>
              </a:defRPr>
            </a:pPr>
            <a:r>
              <a:t>內容、通知、審核、操作台散落在不同工具中。</a:t>
            </a:r>
          </a:p>
          <a:p>
            <a:pPr>
              <a:spcAft>
                <a:spcPts val="1000"/>
              </a:spcAft>
              <a:defRPr sz="2000">
                <a:solidFill>
                  <a:srgbClr val="161616"/>
                </a:solidFill>
                <a:latin typeface="Microsoft JhengHei"/>
              </a:defRPr>
            </a:pPr>
            <a:r>
              <a:t>我希望做出一套可控、可追蹤、可審核的 operator system。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828800"/>
            <a:ext cx="3657600" cy="219456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Microsoft JhengHei UI"/>
              </a:rPr>
              <a:t>專案目標</a:t>
            </a:r>
          </a:p>
          <a:p>
            <a:pPr>
              <a:defRPr sz="1400">
                <a:solidFill>
                  <a:srgbClr val="5D584F"/>
                </a:solidFill>
                <a:latin typeface="Microsoft JhengHei"/>
              </a:defRPr>
            </a:pPr>
            <a:r>
              <a:t>整合 AI、workflow、approval、電商決策</a:t>
            </a:r>
          </a:p>
          <a:p>
            <a:pPr>
              <a:defRPr sz="1400">
                <a:solidFill>
                  <a:srgbClr val="5D584F"/>
                </a:solidFill>
                <a:latin typeface="Microsoft JhengHei"/>
              </a:defRPr>
            </a:pPr>
            <a:r>
              <a:t>讓系統成為真實工作台，而不是 demo 頁面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737360" cy="320040"/>
          </a:xfrm>
          <a:prstGeom prst="roundRect">
            <a:avLst/>
          </a:prstGeom>
          <a:solidFill>
            <a:srgbClr val="FFEDDC"/>
          </a:solidFill>
          <a:ln>
            <a:solidFill>
              <a:srgbClr val="FFE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85C1D"/>
                </a:solidFill>
                <a:latin typeface="Microsoft JhengHei"/>
              </a:rPr>
              <a:t>內容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789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1616"/>
                </a:solidFill>
                <a:latin typeface="Microsoft JhengHei UI"/>
              </a:rPr>
              <a:t>我做了哪些東西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566160" cy="228600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Microsoft JhengHei UI"/>
              </a:rPr>
              <a:t>AITOS / AI Office</a:t>
            </a:r>
          </a:p>
          <a:p>
            <a:pPr>
              <a:defRPr sz="1400">
                <a:solidFill>
                  <a:srgbClr val="5D584F"/>
                </a:solidFill>
                <a:latin typeface="Microsoft JhengHei"/>
              </a:defRPr>
            </a:pPr>
            <a:r>
              <a:t>AI routing</a:t>
            </a:r>
          </a:p>
          <a:p>
            <a:pPr>
              <a:defRPr sz="1400">
                <a:solidFill>
                  <a:srgbClr val="5D584F"/>
                </a:solidFill>
                <a:latin typeface="Microsoft JhengHei"/>
              </a:defRPr>
            </a:pPr>
            <a:r>
              <a:t>review queue</a:t>
            </a:r>
          </a:p>
          <a:p>
            <a:pPr>
              <a:defRPr sz="1400">
                <a:solidFill>
                  <a:srgbClr val="5D584F"/>
                </a:solidFill>
                <a:latin typeface="Microsoft JhengHei"/>
              </a:defRPr>
            </a:pPr>
            <a:r>
              <a:t>approval gates</a:t>
            </a:r>
          </a:p>
          <a:p>
            <a:pPr>
              <a:defRPr sz="1400">
                <a:solidFill>
                  <a:srgbClr val="5D584F"/>
                </a:solidFill>
                <a:latin typeface="Microsoft JhengHei"/>
              </a:defRPr>
            </a:pPr>
            <a:r>
              <a:t>CEO decision package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737360"/>
            <a:ext cx="3566160" cy="228600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Microsoft JhengHei UI"/>
              </a:rPr>
              <a:t>Media Engine</a:t>
            </a:r>
          </a:p>
          <a:p>
            <a:pPr>
              <a:defRPr sz="1400">
                <a:solidFill>
                  <a:srgbClr val="5D584F"/>
                </a:solidFill>
                <a:latin typeface="Microsoft JhengHei"/>
              </a:defRPr>
            </a:pPr>
            <a:r>
              <a:t>topic strategy</a:t>
            </a:r>
          </a:p>
          <a:p>
            <a:pPr>
              <a:defRPr sz="1400">
                <a:solidFill>
                  <a:srgbClr val="5D584F"/>
                </a:solidFill>
                <a:latin typeface="Microsoft JhengHei"/>
              </a:defRPr>
            </a:pPr>
            <a:r>
              <a:t>draft generation</a:t>
            </a:r>
          </a:p>
          <a:p>
            <a:pPr>
              <a:defRPr sz="1400">
                <a:solidFill>
                  <a:srgbClr val="5D584F"/>
                </a:solidFill>
                <a:latin typeface="Microsoft JhengHei"/>
              </a:defRPr>
            </a:pPr>
            <a:r>
              <a:t>GEO / SEO</a:t>
            </a:r>
          </a:p>
          <a:p>
            <a:pPr>
              <a:defRPr sz="1400">
                <a:solidFill>
                  <a:srgbClr val="5D584F"/>
                </a:solidFill>
                <a:latin typeface="Microsoft JhengHei"/>
              </a:defRPr>
            </a:pPr>
            <a:r>
              <a:t>content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737360"/>
            <a:ext cx="3108960" cy="228600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Microsoft JhengHei UI"/>
              </a:rPr>
              <a:t>Flow Lab</a:t>
            </a:r>
          </a:p>
          <a:p>
            <a:pPr>
              <a:defRPr sz="1400">
                <a:solidFill>
                  <a:srgbClr val="5D584F"/>
                </a:solidFill>
                <a:latin typeface="Microsoft JhengHei"/>
              </a:defRPr>
            </a:pPr>
            <a:r>
              <a:t>商品建檔</a:t>
            </a:r>
          </a:p>
          <a:p>
            <a:pPr>
              <a:defRPr sz="1400">
                <a:solidFill>
                  <a:srgbClr val="5D584F"/>
                </a:solidFill>
                <a:latin typeface="Microsoft JhengHei"/>
              </a:defRPr>
            </a:pPr>
            <a:r>
              <a:t>落地成本</a:t>
            </a:r>
          </a:p>
          <a:p>
            <a:pPr>
              <a:defRPr sz="1400">
                <a:solidFill>
                  <a:srgbClr val="5D584F"/>
                </a:solidFill>
                <a:latin typeface="Microsoft JhengHei"/>
              </a:defRPr>
            </a:pPr>
            <a:r>
              <a:t>Shopee 定價</a:t>
            </a:r>
          </a:p>
          <a:p>
            <a:pPr>
              <a:defRPr sz="1400">
                <a:solidFill>
                  <a:srgbClr val="5D584F"/>
                </a:solidFill>
                <a:latin typeface="Microsoft JhengHei"/>
              </a:defRPr>
            </a:pPr>
            <a:r>
              <a:t>組合設計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698480" cy="123444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Microsoft JhengHei UI"/>
              </a:rPr>
              <a:t>技術棧</a:t>
            </a:r>
          </a:p>
          <a:p>
            <a:pPr>
              <a:defRPr sz="1400">
                <a:solidFill>
                  <a:srgbClr val="5D584F"/>
                </a:solidFill>
                <a:latin typeface="Microsoft JhengHei"/>
              </a:defRPr>
            </a:pPr>
            <a:r>
              <a:t>FastAPI、Next.js 14、SQLite、pytest、workflow graph runtime、AI task routing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737360" cy="320040"/>
          </a:xfrm>
          <a:prstGeom prst="roundRect">
            <a:avLst/>
          </a:prstGeom>
          <a:solidFill>
            <a:srgbClr val="FFEDDC"/>
          </a:solidFill>
          <a:ln>
            <a:solidFill>
              <a:srgbClr val="FFE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85C1D"/>
                </a:solidFill>
                <a:latin typeface="Microsoft JhengHei"/>
              </a:rPr>
              <a:t>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789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1616"/>
                </a:solidFill>
                <a:latin typeface="Microsoft JhengHei UI"/>
              </a:rPr>
              <a:t>從 prompt 和頁面，收斂成 workflow 與 domain logic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743200" cy="219456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Microsoft JhengHei UI"/>
              </a:rPr>
              <a:t>API 層</a:t>
            </a:r>
          </a:p>
          <a:p>
            <a:pPr>
              <a:defRPr sz="1400">
                <a:solidFill>
                  <a:srgbClr val="5D584F"/>
                </a:solidFill>
                <a:latin typeface="Microsoft JhengHei"/>
              </a:defRPr>
            </a:pPr>
            <a:r>
              <a:t>chat, review, workflows, ecommerce, Flow Lab, reports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1828800"/>
            <a:ext cx="2743200" cy="219456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Microsoft JhengHei UI"/>
              </a:rPr>
              <a:t>Runtime 層</a:t>
            </a:r>
          </a:p>
          <a:p>
            <a:pPr>
              <a:defRPr sz="1400">
                <a:solidFill>
                  <a:srgbClr val="5D584F"/>
                </a:solidFill>
                <a:latin typeface="Microsoft JhengHei"/>
              </a:defRPr>
            </a:pPr>
            <a:r>
              <a:t>workflow runs, tasks, approvals, checkpoints, resume / pause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828800"/>
            <a:ext cx="2651760" cy="219456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Microsoft JhengHei UI"/>
              </a:rPr>
              <a:t>Domain 層</a:t>
            </a:r>
          </a:p>
          <a:p>
            <a:pPr>
              <a:defRPr sz="1400">
                <a:solidFill>
                  <a:srgbClr val="5D584F"/>
                </a:solidFill>
                <a:latin typeface="Microsoft JhengHei"/>
              </a:defRPr>
            </a:pPr>
            <a:r>
              <a:t>media</a:t>
            </a:r>
          </a:p>
          <a:p>
            <a:pPr>
              <a:defRPr sz="1400">
                <a:solidFill>
                  <a:srgbClr val="5D584F"/>
                </a:solidFill>
                <a:latin typeface="Microsoft JhengHei"/>
              </a:defRPr>
            </a:pPr>
            <a:r>
              <a:t>flow_lab</a:t>
            </a:r>
          </a:p>
          <a:p>
            <a:pPr>
              <a:defRPr sz="1400">
                <a:solidFill>
                  <a:srgbClr val="5D584F"/>
                </a:solidFill>
                <a:latin typeface="Microsoft JhengHei"/>
              </a:defRPr>
            </a:pPr>
            <a:r>
              <a:t>商業邏輯逐步分離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1828800"/>
            <a:ext cx="1783080" cy="219456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Microsoft JhengHei UI"/>
              </a:rPr>
              <a:t>UI</a:t>
            </a:r>
          </a:p>
          <a:p>
            <a:pPr>
              <a:defRPr sz="1400">
                <a:solidFill>
                  <a:srgbClr val="5D584F"/>
                </a:solidFill>
                <a:latin typeface="Microsoft JhengHei"/>
              </a:defRPr>
            </a:pPr>
            <a:r>
              <a:t>dashboard-first</a:t>
            </a:r>
          </a:p>
          <a:p>
            <a:pPr>
              <a:defRPr sz="1400">
                <a:solidFill>
                  <a:srgbClr val="5D584F"/>
                </a:solidFill>
                <a:latin typeface="Microsoft JhengHei"/>
              </a:defRPr>
            </a:pPr>
            <a:r>
              <a:t>operator workflow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737360" cy="320040"/>
          </a:xfrm>
          <a:prstGeom prst="roundRect">
            <a:avLst/>
          </a:prstGeom>
          <a:solidFill>
            <a:srgbClr val="FFEDDC"/>
          </a:solidFill>
          <a:ln>
            <a:solidFill>
              <a:srgbClr val="FFE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85C1D"/>
                </a:solidFill>
                <a:latin typeface="Microsoft JhengHei"/>
              </a:rPr>
              <a:t>Flow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789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1616"/>
                </a:solidFill>
                <a:latin typeface="Microsoft JhengHei UI"/>
              </a:rPr>
              <a:t>把電商從試算表，做成決策引擎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4983480" cy="256032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Microsoft JhengHei UI"/>
              </a:rPr>
              <a:t>Bottom-Up 定價</a:t>
            </a:r>
          </a:p>
          <a:p>
            <a:pPr>
              <a:defRPr sz="1400">
                <a:solidFill>
                  <a:srgbClr val="5D584F"/>
                </a:solidFill>
                <a:latin typeface="Microsoft JhengHei"/>
              </a:defRPr>
            </a:pPr>
            <a:r>
              <a:t>從採購與落地成本出發</a:t>
            </a:r>
          </a:p>
          <a:p>
            <a:pPr>
              <a:defRPr sz="1400">
                <a:solidFill>
                  <a:srgbClr val="5D584F"/>
                </a:solidFill>
                <a:latin typeface="Microsoft JhengHei"/>
              </a:defRPr>
            </a:pPr>
            <a:r>
              <a:t>套用 Shopee 費率與角色毛利</a:t>
            </a:r>
          </a:p>
          <a:p>
            <a:pPr>
              <a:defRPr sz="1400">
                <a:solidFill>
                  <a:srgbClr val="5D584F"/>
                </a:solidFill>
                <a:latin typeface="Microsoft JhengHei"/>
              </a:defRPr>
            </a:pPr>
            <a:r>
              <a:t>推回建議售價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89320" y="1828800"/>
            <a:ext cx="5212080" cy="256032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Microsoft JhengHei UI"/>
              </a:rPr>
              <a:t>Top-Down 採購天花板</a:t>
            </a:r>
          </a:p>
          <a:p>
            <a:pPr>
              <a:defRPr sz="1400">
                <a:solidFill>
                  <a:srgbClr val="5D584F"/>
                </a:solidFill>
                <a:latin typeface="Microsoft JhengHei"/>
              </a:defRPr>
            </a:pPr>
            <a:r>
              <a:t>從市場價出發</a:t>
            </a:r>
          </a:p>
          <a:p>
            <a:pPr>
              <a:defRPr sz="1400">
                <a:solidFill>
                  <a:srgbClr val="5D584F"/>
                </a:solidFill>
                <a:latin typeface="Microsoft JhengHei"/>
              </a:defRPr>
            </a:pPr>
            <a:r>
              <a:t>反推出最大可接受採購成本</a:t>
            </a:r>
          </a:p>
          <a:p>
            <a:pPr>
              <a:defRPr sz="1400">
                <a:solidFill>
                  <a:srgbClr val="5D584F"/>
                </a:solidFill>
                <a:latin typeface="Microsoft JhengHei"/>
              </a:defRPr>
            </a:pPr>
            <a:r>
              <a:t>幫助議價與選品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737360" cy="320040"/>
          </a:xfrm>
          <a:prstGeom prst="roundRect">
            <a:avLst/>
          </a:prstGeom>
          <a:solidFill>
            <a:srgbClr val="FFEDDC"/>
          </a:solidFill>
          <a:ln>
            <a:solidFill>
              <a:srgbClr val="FFE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85C1D"/>
                </a:solidFill>
                <a:latin typeface="Microsoft JhengHei"/>
              </a:rPr>
              <a:t>可靠性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789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1616"/>
                </a:solidFill>
                <a:latin typeface="Microsoft JhengHei UI"/>
              </a:rPr>
              <a:t>我不只做功能，也修真正會傷害信任的問題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210312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Microsoft JhengHei UI"/>
              </a:rPr>
              <a:t>通知 spam</a:t>
            </a:r>
          </a:p>
          <a:p>
            <a:pPr>
              <a:defRPr sz="1400">
                <a:solidFill>
                  <a:srgbClr val="5D584F"/>
                </a:solidFill>
                <a:latin typeface="Microsoft JhengHei"/>
              </a:defRPr>
            </a:pPr>
            <a:r>
              <a:t>SQLite-backed dedup 擋掉重複 LINE 通知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383280" cy="210312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Microsoft JhengHei UI"/>
              </a:rPr>
              <a:t>測試 publish 洩漏</a:t>
            </a:r>
          </a:p>
          <a:p>
            <a:pPr>
              <a:defRPr sz="1400">
                <a:solidFill>
                  <a:srgbClr val="5D584F"/>
                </a:solidFill>
                <a:latin typeface="Microsoft JhengHei"/>
              </a:defRPr>
            </a:pPr>
            <a:r>
              <a:t>避免測試字串碰到真實社群發文路徑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828800"/>
            <a:ext cx="3154680" cy="210312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Microsoft JhengHei UI"/>
              </a:rPr>
              <a:t>Bundle runtime</a:t>
            </a:r>
          </a:p>
          <a:p>
            <a:pPr>
              <a:defRPr sz="1400">
                <a:solidFill>
                  <a:srgbClr val="5D584F"/>
                </a:solidFill>
                <a:latin typeface="Microsoft JhengHei"/>
              </a:defRPr>
            </a:pPr>
            <a:r>
              <a:t>修 schema/query mismatch，讓組合建議恢復可用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4754880"/>
            <a:ext cx="3474720" cy="96012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0F766E"/>
                </a:solidFill>
                <a:latin typeface="Aptos Display"/>
              </a:rPr>
              <a:t>Build 綠燈</a:t>
            </a:r>
          </a:p>
          <a:p>
            <a:pPr algn="ctr">
              <a:defRPr sz="1200">
                <a:solidFill>
                  <a:srgbClr val="5D584F"/>
                </a:solidFill>
                <a:latin typeface="Microsoft JhengHei"/>
              </a:defRPr>
            </a:pPr>
            <a:r>
              <a:t>前端 production build passing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4754880"/>
            <a:ext cx="4389120" cy="96012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0F766E"/>
                </a:solidFill>
                <a:latin typeface="Aptos Display"/>
              </a:rPr>
              <a:t>Tests 綠燈</a:t>
            </a:r>
          </a:p>
          <a:p>
            <a:pPr algn="ctr">
              <a:defRPr sz="1200">
                <a:solidFill>
                  <a:srgbClr val="5D584F"/>
                </a:solidFill>
                <a:latin typeface="Microsoft JhengHei"/>
              </a:defRPr>
            </a:pPr>
            <a:r>
              <a:t>351 passed, 1 skipped, 1 warning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737360" cy="320040"/>
          </a:xfrm>
          <a:prstGeom prst="roundRect">
            <a:avLst/>
          </a:prstGeom>
          <a:solidFill>
            <a:srgbClr val="FFEDDC"/>
          </a:solidFill>
          <a:ln>
            <a:solidFill>
              <a:srgbClr val="FFE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85C1D"/>
                </a:solidFill>
                <a:latin typeface="Microsoft JhengHei"/>
              </a:rPr>
              <a:t>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789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1616"/>
                </a:solidFill>
                <a:latin typeface="Microsoft JhengHei UI"/>
              </a:rPr>
              <a:t>這個作品代表我具備跨層整合能力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649224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61616"/>
                </a:solidFill>
                <a:latin typeface="Microsoft JhengHei"/>
              </a:defRPr>
            </a:pPr>
            <a:r>
              <a:t>能把模糊需求整理成產品與流程規格</a:t>
            </a:r>
          </a:p>
          <a:p>
            <a:pPr>
              <a:spcAft>
                <a:spcPts val="1000"/>
              </a:spcAft>
              <a:defRPr sz="2000">
                <a:solidFill>
                  <a:srgbClr val="161616"/>
                </a:solidFill>
                <a:latin typeface="Microsoft JhengHei"/>
              </a:defRPr>
            </a:pPr>
            <a:r>
              <a:t>能做 backend API、schema、workflow、domain logic</a:t>
            </a:r>
          </a:p>
          <a:p>
            <a:pPr>
              <a:spcAft>
                <a:spcPts val="1000"/>
              </a:spcAft>
              <a:defRPr sz="2000">
                <a:solidFill>
                  <a:srgbClr val="161616"/>
                </a:solidFill>
                <a:latin typeface="Microsoft JhengHei"/>
              </a:defRPr>
            </a:pPr>
            <a:r>
              <a:t>能做 frontend operator UX 收斂</a:t>
            </a:r>
          </a:p>
          <a:p>
            <a:pPr>
              <a:spcAft>
                <a:spcPts val="1000"/>
              </a:spcAft>
              <a:defRPr sz="2000">
                <a:solidFill>
                  <a:srgbClr val="161616"/>
                </a:solidFill>
                <a:latin typeface="Microsoft JhengHei"/>
              </a:defRPr>
            </a:pPr>
            <a:r>
              <a:t>能做 AI 治理與 human-in-the-loop 設計</a:t>
            </a:r>
          </a:p>
          <a:p>
            <a:pPr>
              <a:spcAft>
                <a:spcPts val="1000"/>
              </a:spcAft>
              <a:defRPr sz="2000">
                <a:solidFill>
                  <a:srgbClr val="161616"/>
                </a:solidFill>
                <a:latin typeface="Microsoft JhengHei"/>
              </a:defRPr>
            </a:pPr>
            <a:r>
              <a:t>能修 runtime 問題並把測試基線救回來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2011680"/>
            <a:ext cx="3657600" cy="237744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Microsoft JhengHei UI"/>
              </a:rPr>
              <a:t>面試 framing</a:t>
            </a:r>
          </a:p>
          <a:p>
            <a:pPr>
              <a:defRPr sz="1400">
                <a:solidFill>
                  <a:srgbClr val="5D584F"/>
                </a:solidFill>
                <a:latin typeface="Microsoft JhengHei"/>
              </a:defRPr>
            </a:pPr>
            <a:r>
              <a:t>不是只做某一層</a:t>
            </a:r>
          </a:p>
          <a:p>
            <a:pPr>
              <a:defRPr sz="1400">
                <a:solidFill>
                  <a:srgbClr val="5D584F"/>
                </a:solidFill>
                <a:latin typeface="Microsoft JhengHei"/>
              </a:defRPr>
            </a:pPr>
            <a:r>
              <a:t>而是能串起產品、實作、驗證與維護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737360" cy="320040"/>
          </a:xfrm>
          <a:prstGeom prst="roundRect">
            <a:avLst/>
          </a:prstGeom>
          <a:solidFill>
            <a:srgbClr val="FFEDDC"/>
          </a:solidFill>
          <a:ln>
            <a:solidFill>
              <a:srgbClr val="FFE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85C1D"/>
                </a:solidFill>
                <a:latin typeface="Microsoft JhengHei"/>
              </a:rPr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789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1616"/>
                </a:solidFill>
                <a:latin typeface="Microsoft JhengHei UI"/>
              </a:rPr>
              <a:t>現在已可用，下一步是更成熟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210312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Microsoft JhengHei UI"/>
              </a:rPr>
              <a:t>後端單一真相</a:t>
            </a:r>
          </a:p>
          <a:p>
            <a:pPr>
              <a:defRPr sz="1400">
                <a:solidFill>
                  <a:srgbClr val="5D584F"/>
                </a:solidFill>
                <a:latin typeface="Microsoft JhengHei"/>
              </a:defRPr>
            </a:pPr>
            <a:r>
              <a:t>更完整收斂商業公式到 backend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383280" cy="210312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Microsoft JhengHei UI"/>
              </a:rPr>
              <a:t>Family / Variant</a:t>
            </a:r>
          </a:p>
          <a:p>
            <a:pPr>
              <a:defRPr sz="1400">
                <a:solidFill>
                  <a:srgbClr val="5D584F"/>
                </a:solidFill>
                <a:latin typeface="Microsoft JhengHei"/>
              </a:defRPr>
            </a:pPr>
            <a:r>
              <a:t>更完整商品家族與變體管理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828800"/>
            <a:ext cx="3154680" cy="210312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Microsoft JhengHei UI"/>
              </a:rPr>
              <a:t>Bundle Intelligence</a:t>
            </a:r>
          </a:p>
          <a:p>
            <a:pPr>
              <a:defRPr sz="1400">
                <a:solidFill>
                  <a:srgbClr val="5D584F"/>
                </a:solidFill>
                <a:latin typeface="Microsoft JhengHei"/>
              </a:defRPr>
            </a:pPr>
            <a:r>
              <a:t>從簡單推薦升級到場景與在售商品導向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61616"/>
                </a:solidFill>
                <a:latin typeface="Microsoft JhengHei UI"/>
              </a:defRPr>
            </a:pPr>
            <a:r>
              <a:t>我做的是一套已經能運作、也能持續演進的 AI operator system。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