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554480" cy="320040"/>
          </a:xfrm>
          <a:prstGeom prst="roundRect">
            <a:avLst/>
          </a:prstGeom>
          <a:solidFill>
            <a:srgbClr val="FFEDDC"/>
          </a:solidFill>
          <a:ln>
            <a:solidFill>
              <a:srgbClr val="FFE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C5D1A"/>
                </a:solidFill>
                <a:latin typeface="Aptos"/>
              </a:rPr>
              <a:t>INTERVIEW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616"/>
                </a:solidFill>
                <a:latin typeface="Aptos Display"/>
              </a:rPr>
              <a:t>AntiClaude / AITOS / Flow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74519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F5A53"/>
                </a:solidFill>
                <a:latin typeface="Aptos"/>
              </a:rPr>
              <a:t>AI Operating System + Ecommerce Decision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8961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F5A53"/>
                </a:solidFill>
                <a:latin typeface="Aptos"/>
              </a:defRPr>
            </a:pPr>
            <a:r>
              <a:t>A full-stack system that combines workflow control, approvals, AI collaboration, content operations, and Flow Lab product economics in one operator workspace.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846320"/>
            <a:ext cx="2011680" cy="109728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61616"/>
                </a:solidFill>
                <a:latin typeface="Aptos Display"/>
              </a:rPr>
              <a:t>351</a:t>
            </a:r>
          </a:p>
          <a:p>
            <a:pPr algn="ctr">
              <a:defRPr sz="1200">
                <a:solidFill>
                  <a:srgbClr val="5F5A53"/>
                </a:solidFill>
                <a:latin typeface="Aptos"/>
              </a:defRPr>
            </a:pPr>
            <a:r>
              <a:t>tests passed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846320"/>
            <a:ext cx="2011680" cy="109728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61616"/>
                </a:solidFill>
                <a:latin typeface="Aptos Display"/>
              </a:rPr>
              <a:t>16</a:t>
            </a:r>
          </a:p>
          <a:p>
            <a:pPr algn="ctr">
              <a:defRPr sz="1200">
                <a:solidFill>
                  <a:srgbClr val="5F5A53"/>
                </a:solidFill>
                <a:latin typeface="Aptos"/>
              </a:defRPr>
            </a:pPr>
            <a:r>
              <a:t>dashboard 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4846320"/>
            <a:ext cx="2011680" cy="109728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61616"/>
                </a:solidFill>
                <a:latin typeface="Aptos Display"/>
              </a:rPr>
              <a:t>101</a:t>
            </a:r>
          </a:p>
          <a:p>
            <a:pPr algn="ctr">
              <a:defRPr sz="1200">
                <a:solidFill>
                  <a:srgbClr val="5F5A53"/>
                </a:solidFill>
                <a:latin typeface="Aptos"/>
              </a:defRPr>
            </a:pPr>
            <a:r>
              <a:t>API handlers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4846320"/>
            <a:ext cx="2011680" cy="109728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61616"/>
                </a:solidFill>
                <a:latin typeface="Aptos Display"/>
              </a:rPr>
              <a:t>1262</a:t>
            </a:r>
          </a:p>
          <a:p>
            <a:pPr algn="ctr">
              <a:defRPr sz="1200">
                <a:solidFill>
                  <a:srgbClr val="5F5A53"/>
                </a:solidFill>
                <a:latin typeface="Aptos"/>
              </a:defRPr>
            </a:pPr>
            <a:r>
              <a:t>workflow runs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554480" cy="320040"/>
          </a:xfrm>
          <a:prstGeom prst="roundRect">
            <a:avLst/>
          </a:prstGeom>
          <a:solidFill>
            <a:srgbClr val="FFEDDC"/>
          </a:solidFill>
          <a:ln>
            <a:solidFill>
              <a:srgbClr val="FFE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C5D1A"/>
                </a:solidFill>
                <a:latin typeface="Apto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616"/>
                </a:solidFill>
                <a:latin typeface="Aptos Display"/>
              </a:rPr>
              <a:t>Why I built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766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61616"/>
                </a:solidFill>
                <a:latin typeface="Aptos"/>
              </a:defRPr>
            </a:pPr>
            <a:r>
              <a:t>AI generation had no governance or approval discipline.</a:t>
            </a:r>
          </a:p>
          <a:p>
            <a:pPr>
              <a:spcAft>
                <a:spcPts val="1000"/>
              </a:spcAft>
              <a:defRPr sz="2000">
                <a:solidFill>
                  <a:srgbClr val="161616"/>
                </a:solidFill>
                <a:latin typeface="Aptos"/>
              </a:defRPr>
            </a:pPr>
            <a:r>
              <a:t>Ecommerce pricing and sourcing relied on ad hoc spreadsheets.</a:t>
            </a:r>
          </a:p>
          <a:p>
            <a:pPr>
              <a:spcAft>
                <a:spcPts val="1000"/>
              </a:spcAft>
              <a:defRPr sz="2000">
                <a:solidFill>
                  <a:srgbClr val="161616"/>
                </a:solidFill>
                <a:latin typeface="Aptos"/>
              </a:defRPr>
            </a:pPr>
            <a:r>
              <a:t>Content, review, notifications, and operations were fragmented across tools.</a:t>
            </a:r>
          </a:p>
          <a:p>
            <a:pPr>
              <a:spcAft>
                <a:spcPts val="1000"/>
              </a:spcAft>
              <a:defRPr sz="2000">
                <a:solidFill>
                  <a:srgbClr val="161616"/>
                </a:solidFill>
                <a:latin typeface="Aptos"/>
              </a:defRPr>
            </a:pPr>
            <a:r>
              <a:t>I wanted one controllable operator system instead of disconnected surfaces.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737360"/>
            <a:ext cx="3474720" cy="205740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Aptos"/>
              </a:rPr>
              <a:t>Goal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Turn work into workflows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Make AI actions auditable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Centralize operator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069080"/>
            <a:ext cx="3474720" cy="146304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Aptos"/>
              </a:rPr>
              <a:t>Result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An internal operating system, not another chat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554480" cy="320040"/>
          </a:xfrm>
          <a:prstGeom prst="roundRect">
            <a:avLst/>
          </a:prstGeom>
          <a:solidFill>
            <a:srgbClr val="FFEDDC"/>
          </a:solidFill>
          <a:ln>
            <a:solidFill>
              <a:srgbClr val="FFE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C5D1A"/>
                </a:solidFill>
                <a:latin typeface="Aptos"/>
              </a:rPr>
              <a:t>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616"/>
                </a:solidFill>
                <a:latin typeface="Aptos Display"/>
              </a:rPr>
              <a:t>Three connected products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566160" cy="228600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Aptos"/>
              </a:rPr>
              <a:t>AITOS / AI Office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AI routing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approvals and review queue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CEO decision packages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workflow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737360"/>
            <a:ext cx="3566160" cy="228600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Aptos"/>
              </a:rPr>
              <a:t>Media Engine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topic strategy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draft generation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GEO / SEO related enforcement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content review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737360"/>
            <a:ext cx="3108960" cy="228600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Aptos"/>
              </a:rPr>
              <a:t>Flow Lab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product intake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landed-cost pricing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QQL sourcing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bundle 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698480" cy="123444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Aptos"/>
              </a:rPr>
              <a:t>Stack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FastAPI, Next.js 14 App Router, SQLite, pytest, workflow graph runtime, AI task routing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554480" cy="320040"/>
          </a:xfrm>
          <a:prstGeom prst="roundRect">
            <a:avLst/>
          </a:prstGeom>
          <a:solidFill>
            <a:srgbClr val="FFEDDC"/>
          </a:solidFill>
          <a:ln>
            <a:solidFill>
              <a:srgbClr val="FFE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C5D1A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616"/>
                </a:solidFill>
                <a:latin typeface="Aptos Display"/>
              </a:rPr>
              <a:t>Backend authority + workflow runtime + operator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743200" cy="219456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Aptos"/>
              </a:rPr>
              <a:t>API layer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chat, review, workflows, ecommerce, Flow Lab, reports, system health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828800"/>
            <a:ext cx="2743200" cy="219456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Aptos"/>
              </a:rPr>
              <a:t>Runtime layer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workflow runs, tasks, approvals, checkpoints, resume / pause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828800"/>
            <a:ext cx="2651760" cy="219456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Aptos"/>
              </a:rPr>
              <a:t>Domain layer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media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flow_lab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cleaner business logic boundaries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828800"/>
            <a:ext cx="1783080" cy="219456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Aptos"/>
              </a:rPr>
              <a:t>UI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dashboard-first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operator workflow surfaces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698480" cy="100584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Aptos"/>
              </a:rPr>
              <a:t>Architectural principle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Move from prompts and pages to governed workflows and domain logic.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554480" cy="320040"/>
          </a:xfrm>
          <a:prstGeom prst="roundRect">
            <a:avLst/>
          </a:prstGeom>
          <a:solidFill>
            <a:srgbClr val="FFEDDC"/>
          </a:solidFill>
          <a:ln>
            <a:solidFill>
              <a:srgbClr val="FFE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C5D1A"/>
                </a:solidFill>
                <a:latin typeface="Aptos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616"/>
                </a:solidFill>
                <a:latin typeface="Aptos Display"/>
              </a:rPr>
              <a:t>AI actions are governed, not opaque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6035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61616"/>
                </a:solidFill>
                <a:latin typeface="Aptos"/>
              </a:defRPr>
            </a:pPr>
            <a:r>
              <a:t>workflow runs, tasks, events, artifacts</a:t>
            </a:r>
          </a:p>
          <a:p>
            <a:pPr>
              <a:spcAft>
                <a:spcPts val="1000"/>
              </a:spcAft>
              <a:defRPr sz="2000">
                <a:solidFill>
                  <a:srgbClr val="161616"/>
                </a:solidFill>
                <a:latin typeface="Aptos"/>
              </a:defRPr>
            </a:pPr>
            <a:r>
              <a:t>approval requests and review queue</a:t>
            </a:r>
          </a:p>
          <a:p>
            <a:pPr>
              <a:spcAft>
                <a:spcPts val="1000"/>
              </a:spcAft>
              <a:defRPr sz="2000">
                <a:solidFill>
                  <a:srgbClr val="161616"/>
                </a:solidFill>
                <a:latin typeface="Aptos"/>
              </a:defRPr>
            </a:pPr>
            <a:r>
              <a:t>CEO package generation for operator decisions</a:t>
            </a:r>
          </a:p>
          <a:p>
            <a:pPr>
              <a:spcAft>
                <a:spcPts val="1000"/>
              </a:spcAft>
              <a:defRPr sz="2000">
                <a:solidFill>
                  <a:srgbClr val="161616"/>
                </a:solidFill>
                <a:latin typeface="Aptos"/>
              </a:defRPr>
            </a:pPr>
            <a:r>
              <a:t>pause / resume / checkpoint execution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1828800"/>
            <a:ext cx="4023360" cy="292608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Aptos"/>
              </a:rPr>
              <a:t>Impact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Human-in-the-loop control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Traceable AI decisions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Safer high-risk actions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Better observability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554480" cy="320040"/>
          </a:xfrm>
          <a:prstGeom prst="roundRect">
            <a:avLst/>
          </a:prstGeom>
          <a:solidFill>
            <a:srgbClr val="FFEDDC"/>
          </a:solidFill>
          <a:ln>
            <a:solidFill>
              <a:srgbClr val="FFE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C5D1A"/>
                </a:solidFill>
                <a:latin typeface="Aptos"/>
              </a:rPr>
              <a:t>FLOW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616"/>
                </a:solidFill>
                <a:latin typeface="Aptos Display"/>
              </a:rPr>
              <a:t>From calculator to decision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4983480" cy="256032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Aptos"/>
              </a:rPr>
              <a:t>Bottom-Up pricing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Start from procurement and landed cost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Apply Shopee fee model and role margin targets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Derive recommended selling price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1828800"/>
            <a:ext cx="5212080" cy="256032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Aptos"/>
              </a:rPr>
              <a:t>Top-Down sourcing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Start from target market price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Reverse-calculate max acceptable procurement cost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Use it as a sourcing / negotiation ceiling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09160"/>
            <a:ext cx="10469880" cy="100584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Aptos"/>
              </a:rPr>
              <a:t>Operator surfaces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Quick Add, product detail drawer, inbound modal, weekly performance, bundles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554480" cy="320040"/>
          </a:xfrm>
          <a:prstGeom prst="roundRect">
            <a:avLst/>
          </a:prstGeom>
          <a:solidFill>
            <a:srgbClr val="FFEDDC"/>
          </a:solidFill>
          <a:ln>
            <a:solidFill>
              <a:srgbClr val="FFE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C5D1A"/>
                </a:solidFill>
                <a:latin typeface="Aptos"/>
              </a:rPr>
              <a:t>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616"/>
                </a:solidFill>
                <a:latin typeface="Aptos Display"/>
              </a:rPr>
              <a:t>I fixed trust-breaking failures, not only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10312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Aptos"/>
              </a:rPr>
              <a:t>Notification spam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Durable SQLite-backed dedup for repeated awaiting-human alerts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383280" cy="210312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Aptos"/>
              </a:rPr>
              <a:t>Publish leak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Contained test-side social publish path so test text cannot leak to live behavior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154680" cy="210312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Aptos"/>
              </a:rPr>
              <a:t>Bundle runtime repair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Aligned schema queries with real tables and restored route stability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709160"/>
            <a:ext cx="4206240" cy="96012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17554"/>
                </a:solidFill>
                <a:latin typeface="Aptos Display"/>
              </a:rPr>
              <a:t>Build clean</a:t>
            </a:r>
          </a:p>
          <a:p>
            <a:pPr algn="ctr">
              <a:defRPr sz="1200">
                <a:solidFill>
                  <a:srgbClr val="5F5A53"/>
                </a:solidFill>
                <a:latin typeface="Aptos"/>
              </a:defRPr>
            </a:pPr>
            <a:r>
              <a:t>frontend production build passing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4709160"/>
            <a:ext cx="4572000" cy="96012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17554"/>
                </a:solidFill>
                <a:latin typeface="Aptos Display"/>
              </a:rPr>
              <a:t>Test green</a:t>
            </a:r>
          </a:p>
          <a:p>
            <a:pPr algn="ctr">
              <a:defRPr sz="1200">
                <a:solidFill>
                  <a:srgbClr val="5F5A53"/>
                </a:solidFill>
                <a:latin typeface="Aptos"/>
              </a:defRPr>
            </a:pPr>
            <a:r>
              <a:t>351 passed, 1 skipped, 1 warning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554480" cy="320040"/>
          </a:xfrm>
          <a:prstGeom prst="roundRect">
            <a:avLst/>
          </a:prstGeom>
          <a:solidFill>
            <a:srgbClr val="FFEDDC"/>
          </a:solidFill>
          <a:ln>
            <a:solidFill>
              <a:srgbClr val="FFE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C5D1A"/>
                </a:solidFill>
                <a:latin typeface="Aptos"/>
              </a:rP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616"/>
                </a:solidFill>
                <a:latin typeface="Aptos Display"/>
              </a:rPr>
              <a:t>Why this project matters in interview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400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61616"/>
                </a:solidFill>
                <a:latin typeface="Aptos"/>
              </a:defRPr>
            </a:pPr>
            <a:r>
              <a:t>I can bridge product thinking, backend logic, frontend UX, and reliability work.</a:t>
            </a:r>
          </a:p>
          <a:p>
            <a:pPr>
              <a:spcAft>
                <a:spcPts val="1000"/>
              </a:spcAft>
              <a:defRPr sz="2000">
                <a:solidFill>
                  <a:srgbClr val="161616"/>
                </a:solidFill>
                <a:latin typeface="Aptos"/>
              </a:defRPr>
            </a:pPr>
            <a:r>
              <a:t>I turned practical ecommerce heuristics into software logic and operator tooling.</a:t>
            </a:r>
          </a:p>
          <a:p>
            <a:pPr>
              <a:spcAft>
                <a:spcPts val="1000"/>
              </a:spcAft>
              <a:defRPr sz="2000">
                <a:solidFill>
                  <a:srgbClr val="161616"/>
                </a:solidFill>
                <a:latin typeface="Aptos"/>
              </a:defRPr>
            </a:pPr>
            <a:r>
              <a:t>I treated AI as a governed system, not just prompt outputs.</a:t>
            </a:r>
          </a:p>
          <a:p>
            <a:pPr>
              <a:spcAft>
                <a:spcPts val="1000"/>
              </a:spcAft>
              <a:defRPr sz="2000">
                <a:solidFill>
                  <a:srgbClr val="161616"/>
                </a:solidFill>
                <a:latin typeface="Aptos"/>
              </a:defRPr>
            </a:pPr>
            <a:r>
              <a:t>I repeatedly repaired runtime failures and rebuilt engineering trust with tests.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1920240"/>
            <a:ext cx="3657600" cy="256032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Aptos"/>
              </a:rPr>
              <a:t>Good framing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Not just features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Not just UI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An evolving operator platform with measurable system behavior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554480" cy="320040"/>
          </a:xfrm>
          <a:prstGeom prst="roundRect">
            <a:avLst/>
          </a:prstGeom>
          <a:solidFill>
            <a:srgbClr val="FFEDDC"/>
          </a:solidFill>
          <a:ln>
            <a:solidFill>
              <a:srgbClr val="FFE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C5D1A"/>
                </a:solidFill>
                <a:latin typeface="Aptos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616"/>
                </a:solidFill>
                <a:latin typeface="Aptos Display"/>
              </a:rPr>
              <a:t>Already usable, still improving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74320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Aptos"/>
              </a:rPr>
              <a:t>Working now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dashboard build passes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backend tests pass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review / approval system working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Flow Lab pricing and sourcing flows working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bundle suggestion route repaired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28800"/>
            <a:ext cx="5120640" cy="274320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1616"/>
                </a:solidFill>
                <a:latin typeface="Aptos"/>
              </a:rPr>
              <a:t>Next direction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deeper backend formula convergence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family / variant modeling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smarter bundle recommendations</a:t>
            </a:r>
          </a:p>
          <a:p>
            <a:pPr>
              <a:defRPr sz="1400">
                <a:solidFill>
                  <a:srgbClr val="5F5A53"/>
                </a:solidFill>
                <a:latin typeface="Aptos"/>
              </a:defRPr>
            </a:pPr>
            <a:r>
              <a:t>further operator UX cleanup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554480" cy="320040"/>
          </a:xfrm>
          <a:prstGeom prst="roundRect">
            <a:avLst/>
          </a:prstGeom>
          <a:solidFill>
            <a:srgbClr val="FFEDDC"/>
          </a:solidFill>
          <a:ln>
            <a:solidFill>
              <a:srgbClr val="FFE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DC5D1A"/>
                </a:solidFill>
                <a:latin typeface="Aptos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5156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1616"/>
                </a:solidFill>
                <a:latin typeface="Aptos Display"/>
              </a:rPr>
              <a:t>A system I built, debugged, and kept improving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2412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61616"/>
                </a:solidFill>
                <a:latin typeface="Aptos"/>
              </a:defRPr>
            </a:pPr>
            <a:r>
              <a:t>I built an internal AI operating system and ecommerce decision platform that is already working, measurable, and continuously refined through architecture cleanup, reliability fixes, and operator-focused UX improvements.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4754880"/>
            <a:ext cx="2011680" cy="96012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61616"/>
                </a:solidFill>
                <a:latin typeface="Aptos Display"/>
              </a:rPr>
              <a:t>FastAPI</a:t>
            </a:r>
          </a:p>
          <a:p>
            <a:pPr algn="ctr">
              <a:defRPr sz="1200">
                <a:solidFill>
                  <a:srgbClr val="5F5A53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4754880"/>
            <a:ext cx="2011680" cy="96012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61616"/>
                </a:solidFill>
                <a:latin typeface="Aptos Display"/>
              </a:rPr>
              <a:t>Next.js</a:t>
            </a:r>
          </a:p>
          <a:p>
            <a:pPr algn="ctr">
              <a:defRPr sz="1200">
                <a:solidFill>
                  <a:srgbClr val="5F5A53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4754880"/>
            <a:ext cx="2011680" cy="960120"/>
          </a:xfrm>
          <a:prstGeom prst="roundRect">
            <a:avLst/>
          </a:prstGeom>
          <a:solidFill>
            <a:srgbClr val="FFFDF8"/>
          </a:solidFill>
          <a:ln>
            <a:solidFill>
              <a:srgbClr val="E6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161616"/>
                </a:solidFill>
                <a:latin typeface="Aptos Display"/>
              </a:rPr>
              <a:t>SQLite</a:t>
            </a:r>
          </a:p>
          <a:p>
            <a:pPr algn="ctr">
              <a:defRPr sz="1200">
                <a:solidFill>
                  <a:srgbClr val="5F5A53"/>
                </a:solidFill>
                <a:latin typeface="Aptos"/>
              </a:defRPr>
            </a:pPr>
            <a:r>
              <a:t>runtime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